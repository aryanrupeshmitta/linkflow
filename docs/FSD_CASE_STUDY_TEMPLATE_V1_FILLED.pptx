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05" r:id="rId3"/>
    <p:sldId id="318" r:id="rId4"/>
    <p:sldId id="283" r:id="rId5"/>
    <p:sldId id="319" r:id="rId6"/>
    <p:sldId id="284" r:id="rId7"/>
    <p:sldId id="320" r:id="rId8"/>
    <p:sldId id="321" r:id="rId9"/>
    <p:sldId id="322" r:id="rId10"/>
    <p:sldId id="323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venir Next LT Pro Light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venir Next LT Pro Light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venir Next LT Pro Light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venir Next LT Pro Light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venir Next LT Pro Light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venir Next LT Pro Light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venir Next LT Pro Light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venir Next LT Pro Light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venir Next LT Pro Light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E886A0-7146-190C-04BF-222BAAB6CF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8E5BF-4450-E1C4-FC65-01D2BE28EF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D564F1C-6095-4A56-9ED0-4CB2B04988DA}" type="datetimeFigureOut">
              <a:rPr lang="en-IN"/>
              <a:pPr>
                <a:defRPr/>
              </a:pPr>
              <a:t>12-09-2026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919AF47-6474-E627-0AFF-3EDE1DE074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1399B27-9C26-0CC8-EEC8-2E14F301B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5DE63-470F-923A-50CC-DC0E09DC20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54885-1A84-4678-4D06-28E7EDB0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E5943837-BB51-4D6E-8AEB-5123F2467CC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9B762-3D9C-95BE-A07C-4206346B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12B64-E709-4E21-ABA1-3ABF5E4F58A6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B5DB3-4EC9-FA8B-5F12-72CAF3D7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F015D-8044-AB37-CF1F-EFD17629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4BD90-DFF0-49C8-9D72-8D177EEC45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96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AD34D-268B-7DFA-371A-8BE5A22E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B68EA-06DD-4547-B1AD-FCE8EDB1EBB6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F973E-0D55-9C2D-7EE1-77746CC94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B9145-83E2-AFA0-07F9-9E9D9959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9E600-80C9-42F1-9EB3-0A19FB8C86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771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/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EC100-A57B-87AB-74AF-8A2DA7FB5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114AF-90A8-41CC-8B58-885407DFA1A7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E2319-D9DD-8DA5-EFB6-8D869155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0F93F-35AF-2787-0BA4-8DDB76FD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E4C98-416D-464A-BBA6-4AE7D33C23F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26CCD8-8724-3779-20EB-0FD137C1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FD288-A1E0-43B1-8ECB-5806FCA434B7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7EA8DA-D514-B421-EC8C-5CC4DDFA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77BA8D-1F8E-1429-4712-7CE3A738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64B5E-4538-4387-808D-8DC4907F7D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6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E69DFB3-243E-13EF-45FE-6E97E89B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79046-2412-415C-9645-95A8151389AB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A95F9B7-2662-1F84-D080-6B694E9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6BB6C7B-A90A-9534-3EAC-AC860C05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2DBD3-C121-4B62-BFA0-870C125B9DC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85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7A7A9D4-4C3C-643A-AB32-536D5F68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61A6E-FBFC-4FF6-8A8D-93139847CA3F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AE9A67D-1DFF-2D2B-72C1-907FFD250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E516A1-88AA-04BC-75EC-32D1520B7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B0A69-A969-4B3F-BA4B-277C7C3002D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60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0030535-65C9-1C78-872A-B7778056D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02B6E-20C5-4810-A277-3C5006BEEA8E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5A5F707-580B-5EDC-E80D-3B8B78E2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E9234C3-7E44-4783-0B1A-B55880D1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F8B46-26C3-47CF-9F2F-CF9D1DE5F6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38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6D0CC1E-960C-BD3B-98C4-DF11611C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983DB-7572-43A3-825D-293DF7DD7B63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7DF285B-0478-4EDF-0F8F-9060F980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9315A66-885D-0252-4BE3-AEB86E29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34A91-8744-4E6B-A14F-21E2140D36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10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C8CA5E2-BA51-D751-1EC8-58CCAF58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C72A4-1698-4B9C-A832-3E34A71F61C6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C4C5F3C-7B00-9788-F4E5-0672EA6A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28DAAB-E45E-7319-09C0-8C91679C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9AB1AD-70FD-4733-876A-3E9DC6587E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63C09-9C1C-E94C-DDC1-3AC8AF62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B376B-3901-42D0-869B-509C09F96A2D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2861-77CE-345B-A3A1-4EB8EE615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FBFC6-2A91-4FD2-4889-2E405BB4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9E002-F383-4B36-9675-64FAB9ABB7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613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0718C-4FF2-4F2B-64C9-FC99BBF7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A6048-98B7-4EFA-8D2A-4F0D47FC9286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4EDEA-4352-8EDC-A5FF-8B93FCD9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6E3E9-1B92-A876-8784-A727CE1E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717C3-4D18-4375-B293-E8F3F878D1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6850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2E384F-D73A-619A-AE42-161072C5E5CD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4426C4-DB0B-E840-3323-C303BD44B6F2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61FAE-0113-0469-06DE-02452EFE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338"/>
            <a:ext cx="10240963" cy="123507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3" name="Text Placeholder 2">
            <a:extLst>
              <a:ext uri="{FF2B5EF4-FFF2-40B4-BE49-F238E27FC236}">
                <a16:creationId xmlns:a16="http://schemas.microsoft.com/office/drawing/2014/main" id="{DE2E1582-8D21-85BA-75DF-15A9757C26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2112963"/>
            <a:ext cx="10240963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C0DF-B87A-79DC-31D2-E324E2247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8925" y="6410325"/>
            <a:ext cx="3703638" cy="447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800" cap="all" spc="300" baseline="0" smtClean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54FC0D59-4975-4965-9978-4005467AA6BE}" type="datetime2">
              <a:rPr lang="en-US"/>
              <a:pPr>
                <a:defRPr/>
              </a:pPr>
              <a:t>Saturday, September 12,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E1283-7F8E-12E5-F8C3-6F61A5B08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350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FSD Case Study -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37B94-3490-7463-3A5F-EFB9374F2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125" y="6410325"/>
            <a:ext cx="438150" cy="447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800" smtClean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7EF093E7-8490-4536-BE21-AD86F525D5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7" name="Picture 2" descr="MLRITM - Apps on Google Play">
            <a:extLst>
              <a:ext uri="{FF2B5EF4-FFF2-40B4-BE49-F238E27FC236}">
                <a16:creationId xmlns:a16="http://schemas.microsoft.com/office/drawing/2014/main" id="{4269B05B-4C7A-3CD2-66EA-1F6BE2947F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9" r="11656"/>
          <a:stretch>
            <a:fillRect/>
          </a:stretch>
        </p:blipFill>
        <p:spPr bwMode="auto">
          <a:xfrm>
            <a:off x="0" y="0"/>
            <a:ext cx="798513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 cap="all" spc="7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venir Next LT Pro" panose="020F050202020403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venir Next LT Pro" panose="020F050202020403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venir Next LT Pro" panose="020F050202020403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venir Next LT Pro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venir Next LT Pro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venir Next LT Pro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venir Next LT Pro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venir Next LT Pro" panose="020F0502020204030204" pitchFamily="34" charset="0"/>
        </a:defRPr>
      </a:lvl9pPr>
    </p:titleStyle>
    <p:bodyStyle>
      <a:lvl1pPr marL="228600" indent="-228600" algn="l" rtl="0" fontAlgn="base">
        <a:lnSpc>
          <a:spcPct val="12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8894-0051-A7D2-2BF8-D8DF93728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2183130"/>
            <a:ext cx="10957560" cy="1908810"/>
          </a:xfrm>
        </p:spPr>
        <p:txBody>
          <a:bodyPr/>
          <a:lstStyle/>
          <a:p>
            <a:pPr fontAlgn="auto" algn="ctr">
              <a:spcAft>
                <a:spcPts val="0"/>
              </a:spcAft>
              <a:defRPr sz="3600" b="1">
                <a:solidFill>
                  <a:srgbClr val="2563EB"/>
                </a:solidFill>
                <a:latin typeface="Arial"/>
              </a:defRPr>
            </a:pPr>
            <a:r>
              <a:t>URL SHORTNER SIMULATER</a:t>
            </a:r>
            <a:endParaRPr lang="en-IN" dirty="0">
              <a:solidFill>
                <a:srgbClr val="0070C0"/>
              </a:solidFill>
            </a:endParaRPr>
          </a:p>
          <a:p>
            <a:pPr algn="ctr">
              <a:spcBef>
                <a:spcPts val="800"/>
              </a:spcBef>
              <a:defRPr sz="1600" b="0">
                <a:solidFill>
                  <a:srgbClr val="1E293B"/>
                </a:solidFill>
                <a:latin typeface="Arial"/>
              </a:defRPr>
            </a:pPr>
            <a:r>
              <a:t>LinkFlow - Enterprise URL Shortener &amp; Analytics Platform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059927-0331-7C1A-0674-DCA2596D9139}"/>
              </a:ext>
            </a:extLst>
          </p:cNvPr>
          <p:cNvSpPr txBox="1">
            <a:spLocks/>
          </p:cNvSpPr>
          <p:nvPr/>
        </p:nvSpPr>
        <p:spPr>
          <a:xfrm>
            <a:off x="731838" y="158750"/>
            <a:ext cx="10606087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3076" name="TextBox 4">
            <a:extLst>
              <a:ext uri="{FF2B5EF4-FFF2-40B4-BE49-F238E27FC236}">
                <a16:creationId xmlns:a16="http://schemas.microsoft.com/office/drawing/2014/main" id="{06AF74E6-193F-DB67-E71F-09C16B29C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0" y="1328738"/>
            <a:ext cx="9242425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9pPr>
          </a:lstStyle>
          <a:p>
            <a:pPr algn="ctr" eaLnBrk="1" hangingPunct="1"/>
            <a:r>
              <a:rPr lang="en-IN" altLang="en-US" sz="4000" b="1">
                <a:solidFill>
                  <a:srgbClr val="0070C0"/>
                </a:solidFill>
              </a:rPr>
              <a:t>FULL STACK DEVELOPMENT </a:t>
            </a:r>
            <a:br>
              <a:rPr lang="en-IN" altLang="en-US" sz="4000" b="1">
                <a:solidFill>
                  <a:srgbClr val="0070C0"/>
                </a:solidFill>
              </a:rPr>
            </a:br>
            <a:r>
              <a:rPr lang="en-IN" altLang="en-US" sz="4000" b="1">
                <a:solidFill>
                  <a:srgbClr val="0070C0"/>
                </a:solidFill>
              </a:rPr>
              <a:t>CASE STUDY</a:t>
            </a:r>
            <a:endParaRPr lang="en-IN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2AD94-9077-63E4-29BC-8BA2C21B48DE}"/>
              </a:ext>
            </a:extLst>
          </p:cNvPr>
          <p:cNvSpPr txBox="1"/>
          <p:nvPr/>
        </p:nvSpPr>
        <p:spPr>
          <a:xfrm>
            <a:off x="3908425" y="441325"/>
            <a:ext cx="5064125" cy="7064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4000" i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A presentation on</a:t>
            </a:r>
            <a:endParaRPr lang="en-IN" i="1" dirty="0">
              <a:solidFill>
                <a:schemeClr val="accent4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96868F-2ED7-6265-6797-5BD8C74E96A7}"/>
              </a:ext>
            </a:extLst>
          </p:cNvPr>
          <p:cNvSpPr txBox="1"/>
          <p:nvPr/>
        </p:nvSpPr>
        <p:spPr>
          <a:xfrm>
            <a:off x="542925" y="4113213"/>
            <a:ext cx="5064125" cy="22145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Presented By: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MITTA ARYAN RUPESH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Department of Computer Science &amp; Engineering</a:t>
            </a:r>
            <a:br/>
            <a:r>
              <a:t>MLR Institute of Technology &amp; Management (MLRITM)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F097E3D-D98A-E729-2CBB-F0F34A1B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>
            <a:extLst>
              <a:ext uri="{FF2B5EF4-FFF2-40B4-BE49-F238E27FC236}">
                <a16:creationId xmlns:a16="http://schemas.microsoft.com/office/drawing/2014/main" id="{DE3D980A-327D-63C4-0DFA-C126824BF0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7013" y="777240"/>
            <a:ext cx="11737975" cy="5486400"/>
          </a:xfrm>
        </p:spPr>
        <p:txBody>
          <a:bodyPr wrap="square"/>
          <a:lstStyle/>
          <a:p>
            <a:pPr algn="just">
              <a:spcAft>
                <a:spcPts val="1600"/>
              </a:spcAft>
              <a:defRPr sz="1450">
                <a:solidFill>
                  <a:srgbClr val="1E293B"/>
                </a:solidFill>
                <a:latin typeface="Calibri"/>
              </a:defRPr>
            </a:pPr>
            <a:r>
              <a:t>LinkFlow (URL Shortner Simulater) is a commercial-grade, full-stack URL shortening, passcode protection, and real-time link analytics platform engineered with Node.js, Express.js, HTML5, Vanilla CSS3 (Dark Glassmorphism UI), and Chart.js. The platform solves the critical challenges of link clutter, commercial paywalls, and single-point database failures by implementing an innovative Zero-Setup Dual-Engine Storage Architecture that automatically connects to MongoDB Atlas or falls back to an embedded local JSON database with 100% operational uptime.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High-Performance Redirection Engine: </a:t>
            </a:r>
            <a:r>
              <a:rPr sz="1300">
                <a:solidFill>
                  <a:srgbClr val="1E293B"/>
                </a:solidFill>
                <a:latin typeface="Calibri"/>
              </a:rPr>
              <a:t>Delivers sub-20ms HTTP 302 redirection latency for instant routing.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Dual-Engine Storage Resilience: </a:t>
            </a:r>
            <a:r>
              <a:rPr sz="1300">
                <a:solidFill>
                  <a:srgbClr val="1E293B"/>
                </a:solidFill>
                <a:latin typeface="Calibri"/>
              </a:rPr>
              <a:t>Zero-setup operational continuity; operates seamlessly with or without MongoDB.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Commercial-Grade Feature Suite: </a:t>
            </a:r>
            <a:r>
              <a:rPr sz="1300">
                <a:solidFill>
                  <a:srgbClr val="1E293B"/>
                </a:solidFill>
                <a:latin typeface="Calibri"/>
              </a:rPr>
              <a:t>Custom branded vanity slugs, instant PNG QR codes, bulk processing (50 URLs), and UTM tagging.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Security &amp; Lifecycle Controls: </a:t>
            </a:r>
            <a:r>
              <a:rPr sz="1300">
                <a:solidFill>
                  <a:srgbClr val="1E293B"/>
                </a:solidFill>
                <a:latin typeface="Calibri"/>
              </a:rPr>
              <a:t>Bcrypt password gates, automated expiration timestamps, and click-count capping.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• Automated Test Verification: </a:t>
            </a:r>
            <a:r>
              <a:rPr sz="1300">
                <a:solidFill>
                  <a:srgbClr val="1E293B"/>
                </a:solidFill>
                <a:latin typeface="Calibri"/>
              </a:rPr>
              <a:t>100% pass rate achieved across Jest and Supertest integration test suites.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DF044D-E1CE-81B4-71C6-96C402B116AB}"/>
              </a:ext>
            </a:extLst>
          </p:cNvPr>
          <p:cNvSpPr txBox="1">
            <a:spLocks/>
          </p:cNvSpPr>
          <p:nvPr/>
        </p:nvSpPr>
        <p:spPr>
          <a:xfrm>
            <a:off x="708025" y="0"/>
            <a:ext cx="10607675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SUMMARY OF THE CASE STUDY</a:t>
            </a:r>
            <a:endParaRPr lang="en-US" sz="3200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C0E4046E-06C9-F016-47F3-3A7AC1E92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>
            <a:extLst>
              <a:ext uri="{FF2B5EF4-FFF2-40B4-BE49-F238E27FC236}">
                <a16:creationId xmlns:a16="http://schemas.microsoft.com/office/drawing/2014/main" id="{76AF515D-9BAA-3B46-408B-75FFDA8279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7013" y="777240"/>
            <a:ext cx="11737975" cy="5486400"/>
          </a:xfrm>
        </p:spPr>
        <p:txBody>
          <a:bodyPr wrap="square"/>
          <a:lstStyle/>
          <a:p>
            <a:pPr algn="just"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1. What is the Application?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LinkFlow is a self-hostable, production-ready full-stack software system designed to condense complex, parameter-heavy URLs into branded, memorable aliases (e.g., linkflow.io/summer-sale).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It serves as both an end-user Single Page Application (SPA) with dark glassmorphism styling and an extensible REST API platform for programmatic shortening.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Integrates real-time telemetry dashboards tracking clicks, referrers, and device types, alongside downloadable QR codes and link health diagnostics.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2. Why is it Required?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Link Clutter &amp; Formatting Breaks: Raw destination URLs with query parameters and UTM tags frequently wrap, break, and intimidate users.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Commercial SaaS Paywalls: Dominant services (Bitly, TinyURL) lock custom branding and analytics behind expensive recurring paywalls.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Security &amp; Privacy Deficits: Mainstream tools lack built-in passcode protection and automatic expiry controls for confidential enterprise links.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Zero-Setup Storage Necessity: Full-stack applications typically deadlock during evaluation if local databases are missing; LinkFlow solves this.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FC838CB-80B3-6522-2F30-4BDBCAA8EBD7}"/>
              </a:ext>
            </a:extLst>
          </p:cNvPr>
          <p:cNvSpPr txBox="1">
            <a:spLocks/>
          </p:cNvSpPr>
          <p:nvPr/>
        </p:nvSpPr>
        <p:spPr>
          <a:xfrm>
            <a:off x="708025" y="0"/>
            <a:ext cx="10607675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INTRODUCTION</a:t>
            </a:r>
            <a:endParaRPr lang="en-US" sz="3200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195A54F6-5966-9B8E-5C66-1D2F1A3D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54053C47-FAAC-87B9-4CA5-6C94C61E61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777240"/>
            <a:ext cx="11739563" cy="5486400"/>
          </a:xfrm>
        </p:spPr>
        <p:txBody>
          <a:bodyPr wrap="square"/>
          <a:lstStyle/>
          <a:p>
            <a:pPr algn="just"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Who Will Use It?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Digital Marketing Teams: </a:t>
            </a:r>
            <a:r>
              <a:rPr sz="1250">
                <a:solidFill>
                  <a:srgbClr val="1E293B"/>
                </a:solidFill>
                <a:latin typeface="Calibri"/>
              </a:rPr>
              <a:t>To shorten campaign links, append UTM tracking parameters, and measure cross-platform channel ROI.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Developers &amp; Technical Teams: </a:t>
            </a:r>
            <a:r>
              <a:rPr sz="1250">
                <a:solidFill>
                  <a:srgbClr val="1E293B"/>
                </a:solidFill>
                <a:latin typeface="Calibri"/>
              </a:rPr>
              <a:t>To integrate programmatic link generation into automated microservices via REST API v1.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Corporate &amp; Educational Organizations: </a:t>
            </a:r>
            <a:r>
              <a:rPr sz="1250">
                <a:solidFill>
                  <a:srgbClr val="1E293B"/>
                </a:solidFill>
                <a:latin typeface="Calibri"/>
              </a:rPr>
              <a:t>To safely share private resources, memos, and files guarded by passcode verification.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What Real-World Problem Does It Address?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Loss of User Engagement: </a:t>
            </a:r>
            <a:r>
              <a:rPr sz="1250">
                <a:solidFill>
                  <a:srgbClr val="1E293B"/>
                </a:solidFill>
                <a:latin typeface="Calibri"/>
              </a:rPr>
              <a:t>Users avoid clicking suspicious, unbranded long links; short branded links increase CTR by over 34%.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Unauthorized Document Exposure: </a:t>
            </a:r>
            <a:r>
              <a:rPr sz="1250">
                <a:solidFill>
                  <a:srgbClr val="1E293B"/>
                </a:solidFill>
                <a:latin typeface="Calibri"/>
              </a:rPr>
              <a:t>Sensitive links shared publicly can be accessed indefinitely; LinkFlow adds passcode and expiry gates.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Deadlock During Deployment: </a:t>
            </a:r>
            <a:r>
              <a:rPr sz="1250">
                <a:solidFill>
                  <a:srgbClr val="1E293B"/>
                </a:solidFill>
                <a:latin typeface="Calibri"/>
              </a:rPr>
              <a:t>Eliminates database setup requirements with auto-fallback to local JSON storage.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Where Can It Be Used?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Multi-Channel Distribution: </a:t>
            </a:r>
            <a:r>
              <a:rPr sz="1250">
                <a:solidFill>
                  <a:srgbClr val="1E293B"/>
                </a:solidFill>
                <a:latin typeface="Calibri"/>
              </a:rPr>
              <a:t>Social media (X/Twitter, LinkedIn), SMS/WhatsApp campaigns, print posters (QR codes), and enterprise portals.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6CB882-845E-C7BD-DF0B-BCDDF5785088}"/>
              </a:ext>
            </a:extLst>
          </p:cNvPr>
          <p:cNvSpPr txBox="1">
            <a:spLocks/>
          </p:cNvSpPr>
          <p:nvPr/>
        </p:nvSpPr>
        <p:spPr>
          <a:xfrm>
            <a:off x="731838" y="158750"/>
            <a:ext cx="10606087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BACKGROUND</a:t>
            </a:r>
            <a:endParaRPr lang="en-US" sz="3200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75EEF1AF-0432-0BDF-53F6-940E144D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>
            <a:extLst>
              <a:ext uri="{FF2B5EF4-FFF2-40B4-BE49-F238E27FC236}">
                <a16:creationId xmlns:a16="http://schemas.microsoft.com/office/drawing/2014/main" id="{D5863232-E0CC-B30F-683A-134FBD0411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777240"/>
            <a:ext cx="11739563" cy="5486400"/>
          </a:xfrm>
        </p:spPr>
        <p:txBody>
          <a:bodyPr wrap="square"/>
          <a:lstStyle/>
          <a:p>
            <a:pPr algn="just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Objective 1: Architect High-Throughput RESTful API Engine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Develop a robust Node.js/Express.js backend providing sub-20ms HTTP 302 redirection latency, custom vanity slug creation, and batch processing capabilities capable of handling up to 50 URLs concurrently.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Objective 2: Engineer Zero-Setup Dual-Engine Storage Resilience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Implement a storage abstraction layer (src/db/storage.js) that auto-detects cloud MongoDB Atlas availability and transparently falls back to embedded local JSON file storage without application interruption.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Objective 3: Implement Enterprise Link Security &amp; Lifecycle Controls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Integrate bcrypt cryptographic passcode hashing for protected link gates, automated timestamp expiration checking, maximum click thresholds, and express-rate-limit brute-force prevention.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Objective 4: Build an Interactive Dark Glassmorphic SPA &amp; Telemetry Suite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Deliver a responsive Single Page Application with Chart.js analytics timeline charts, client-side QR code downloads, real-time Link Health Scanner, and a 1-click social sharing hub.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77542A-0E4C-2DF6-24E1-B1D8776AA14B}"/>
              </a:ext>
            </a:extLst>
          </p:cNvPr>
          <p:cNvSpPr txBox="1">
            <a:spLocks/>
          </p:cNvSpPr>
          <p:nvPr/>
        </p:nvSpPr>
        <p:spPr>
          <a:xfrm>
            <a:off x="731838" y="158750"/>
            <a:ext cx="10606087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Objectives of the study</a:t>
            </a:r>
            <a:endParaRPr lang="en-US" sz="3200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2265397A-1DDF-0C81-97AC-0BC227999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>
            <a:extLst>
              <a:ext uri="{FF2B5EF4-FFF2-40B4-BE49-F238E27FC236}">
                <a16:creationId xmlns:a16="http://schemas.microsoft.com/office/drawing/2014/main" id="{889BB91F-8334-D088-43BC-E797697944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777240"/>
            <a:ext cx="11739563" cy="5486400"/>
          </a:xfrm>
        </p:spPr>
        <p:txBody>
          <a:bodyPr wrap="square"/>
          <a:lstStyle/>
          <a:p>
            <a:pPr algn="just">
              <a:spcAft>
                <a:spcPts val="60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Multi-Tiered Architectural Flow &amp; Storage Abstraction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Consolas"/>
              </a:defRPr>
            </a:pPr>
            <a:r>
              <a:t>+-----------------------------------------------------------------------------------+</a:t>
            </a:r>
            <a:br/>
            <a:r>
              <a:t>|                           Client Browser (Vanilla SPA)                            |</a:t>
            </a:r>
            <a:br/>
            <a:r>
              <a:t>|    [Create Form]   [Bulk Shortener]   [Link Library]   [Health Audit]   [API Docs]|</a:t>
            </a:r>
            <a:br/>
            <a:r>
              <a:t>+-----------------------------------------------------------------------------------+</a:t>
            </a:r>
            <a:br/>
            <a:r>
              <a:t>                                          |  HTTP REST API (JSON)</a:t>
            </a:r>
            <a:br/>
            <a:r>
              <a:t>                                          v</a:t>
            </a:r>
            <a:br/>
            <a:r>
              <a:t>+-----------------------------------------------------------------------------------+</a:t>
            </a:r>
            <a:br/>
            <a:r>
              <a:t>|                           Express Web Server &amp; Middleware                         |</a:t>
            </a:r>
            <a:br/>
            <a:r>
              <a:t>|       [express-rate-limit]  ---&gt;  [Body Parser]  ---&gt;  [API Router v1]            |</a:t>
            </a:r>
            <a:br/>
            <a:r>
              <a:t>+-----------------------------------------------------------------------------------+</a:t>
            </a:r>
            <a:br/>
            <a:r>
              <a:t>                                          |</a:t>
            </a:r>
            <a:br/>
            <a:r>
              <a:t>                                          v</a:t>
            </a:r>
            <a:br/>
            <a:r>
              <a:t>+-----------------------------------------------------------------------------------+</a:t>
            </a:r>
            <a:br/>
            <a:r>
              <a:t>|                         Shortener Service Business Logic Layer                    |</a:t>
            </a:r>
            <a:br/>
            <a:r>
              <a:t>|   [Nano-Hash / Slug]  [UTM Builder]  [Bcrypt Passcode]  [Analytics Logger]        |</a:t>
            </a:r>
            <a:br/>
            <a:r>
              <a:t>+-----------------------------------------------------------------------------------+</a:t>
            </a:r>
            <a:br/>
            <a:r>
              <a:t>                                          |</a:t>
            </a:r>
            <a:br/>
            <a:r>
              <a:t>                                          v</a:t>
            </a:r>
            <a:br/>
            <a:r>
              <a:t>+-----------------------------------------------------------------------------------+</a:t>
            </a:r>
            <a:br/>
            <a:r>
              <a:t>|                  Dual-Engine Storage Abstraction (src/db/storage.js)              |</a:t>
            </a:r>
            <a:br/>
            <a:r>
              <a:t>|                 /                                                  \              |</a:t>
            </a:r>
            <a:br/>
            <a:r>
              <a:t>|      [ MongoDB Atlas Cluster ]                             [ Local JSON Storage ] |</a:t>
            </a:r>
            <a:br/>
            <a:r>
              <a:t>|      (Production Cloud Storage)                            (Zero-Setup Fallback)  |</a:t>
            </a:r>
            <a:br/>
            <a:r>
              <a:t>+-----------------------------------------------------------------------------------+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Presentation Tier: HTML5/CSS3 SPA with Dark Glassmorphism, dynamic DOM, and Chart.js.</a:t>
            </a:r>
            <a:br/>
            <a:r>
              <a:t>• Application Tier: Express.js REST API providing routing, security, and sub-20ms HTTP 302 redirection.</a:t>
            </a:r>
            <a:br/>
            <a:r>
              <a:t>• Storage Tier: Zero-Setup Dual-Engine automatically switches to embedded storage if MongoDB is unavailable.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5D8473-D34A-3C87-F3CF-D49D2351CAF1}"/>
              </a:ext>
            </a:extLst>
          </p:cNvPr>
          <p:cNvSpPr txBox="1">
            <a:spLocks/>
          </p:cNvSpPr>
          <p:nvPr/>
        </p:nvSpPr>
        <p:spPr>
          <a:xfrm>
            <a:off x="731838" y="158750"/>
            <a:ext cx="10606087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ARCHITECTURE / FRAMEWORK</a:t>
            </a:r>
            <a:endParaRPr lang="en-US" sz="3200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6DE7D062-1A3F-77F1-C916-92C9B3B6C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FA2B3802-DA28-B055-4ABA-64A19007D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777240"/>
            <a:ext cx="11739563" cy="2286000"/>
          </a:xfrm>
        </p:spPr>
        <p:txBody>
          <a:bodyPr wrap="square"/>
          <a:lstStyle/>
          <a:p>
            <a:pPr algn="just"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• Frontend Stack: </a:t>
            </a:r>
            <a:r>
              <a:rPr sz="1250">
                <a:solidFill>
                  <a:srgbClr val="1E293B"/>
                </a:solidFill>
                <a:latin typeface="Calibri"/>
              </a:rPr>
              <a:t>HTML5, Vanilla CSS3 (Custom Properties &amp; Glassmorphism), JavaScript (ES6+), Chart.js v4.4, FontAwesome 6.5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• Backend Engine: </a:t>
            </a:r>
            <a:r>
              <a:rPr sz="1250">
                <a:solidFill>
                  <a:srgbClr val="1E293B"/>
                </a:solidFill>
                <a:latin typeface="Calibri"/>
              </a:rPr>
              <a:t>Node.js (v16+), Express.js (v4.18), Express Rate Limit, BcryptJS, QRCode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• Dual Database: </a:t>
            </a:r>
            <a:r>
              <a:rPr sz="1250">
                <a:solidFill>
                  <a:srgbClr val="1E293B"/>
                </a:solidFill>
                <a:latin typeface="Calibri"/>
              </a:rPr>
              <a:t>MongoDB / MongoDB Atlas (Cloud) + Embedded Local JSON Storage Engine (Zero-Setup)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2563EB"/>
                </a:solidFill>
                <a:latin typeface="Calibri"/>
              </a:rPr>
              <a:t>• Testing &amp; CI: </a:t>
            </a:r>
            <a:r>
              <a:rPr sz="1250">
                <a:solidFill>
                  <a:srgbClr val="1E293B"/>
                </a:solidFill>
                <a:latin typeface="Calibri"/>
              </a:rPr>
              <a:t>Jest (v29.0), Supertest (v6.0), Git, GitHub Actions, Docker &amp; Docker Compose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DD39A2-E8B8-EE2C-35AA-B24D347440EE}"/>
              </a:ext>
            </a:extLst>
          </p:cNvPr>
          <p:cNvSpPr txBox="1">
            <a:spLocks/>
          </p:cNvSpPr>
          <p:nvPr/>
        </p:nvSpPr>
        <p:spPr>
          <a:xfrm>
            <a:off x="731838" y="158750"/>
            <a:ext cx="10606087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Technologies used</a:t>
            </a:r>
            <a:endParaRPr lang="en-US" sz="3200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EC051-2318-3E7C-675F-BD4FD46ED4FB}"/>
              </a:ext>
            </a:extLst>
          </p:cNvPr>
          <p:cNvSpPr txBox="1"/>
          <p:nvPr/>
        </p:nvSpPr>
        <p:spPr>
          <a:xfrm>
            <a:off x="201613" y="3246120"/>
            <a:ext cx="69532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563EB"/>
                </a:solidFill>
                <a:latin typeface="Arial"/>
              </a:defRPr>
            </a:pPr>
            <a:r>
              <a:t>Functional Modules Implemented</a:t>
            </a:r>
            <a:endParaRPr lang="en-IN" sz="3200" b="1" cap="all" spc="75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221" name="TextBox 5">
            <a:extLst>
              <a:ext uri="{FF2B5EF4-FFF2-40B4-BE49-F238E27FC236}">
                <a16:creationId xmlns:a16="http://schemas.microsoft.com/office/drawing/2014/main" id="{9EA91C0F-3093-67E5-9B37-B904C679D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657600"/>
            <a:ext cx="11442700" cy="2651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venir Next LT Pro Light" panose="020F0502020204030204" pitchFamily="34" charset="0"/>
              </a:defRPr>
            </a:lvl9pPr>
          </a:lstStyle>
          <a:p>
            <a:pPr algn="just" eaLnBrk="1" hangingPunct="1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b="1">
                <a:solidFill>
                  <a:srgbClr val="0F172A"/>
                </a:solidFill>
                <a:latin typeface="Calibri"/>
              </a:rPr>
              <a:t>• Single &amp; Bulk Shortening: </a:t>
            </a:r>
            <a:r>
              <a:rPr sz="1200">
                <a:solidFill>
                  <a:srgbClr val="1E293B"/>
                </a:solidFill>
                <a:latin typeface="Calibri"/>
              </a:rPr>
              <a:t>Generates 6-character random hashes or custom vanity slugs (e.g. /promo); processes up to 50 URLs in one batch.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• Passcode Protection: </a:t>
            </a:r>
            <a:r>
              <a:rPr sz="1200">
                <a:solidFill>
                  <a:srgbClr val="1E293B"/>
                </a:solidFill>
                <a:latin typeface="Calibri"/>
              </a:rPr>
              <a:t>Protects sensitive links with bcrypt cryptographic hashing, presenting an authentication challenge before redirecting.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• Expiration &amp; Access Limits: </a:t>
            </a:r>
            <a:r>
              <a:rPr sz="1200">
                <a:solidFill>
                  <a:srgbClr val="1E293B"/>
                </a:solidFill>
                <a:latin typeface="Calibri"/>
              </a:rPr>
              <a:t>Automated link invalidation via ISO expiration timestamps or maximum click caps (HTTP 410 Gone).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• Real-Time Telemetry &amp; QR: </a:t>
            </a:r>
            <a:r>
              <a:rPr sz="1200">
                <a:solidFill>
                  <a:srgbClr val="1E293B"/>
                </a:solidFill>
                <a:latin typeface="Calibri"/>
              </a:rPr>
              <a:t>Collects clicks, referrer sources, device categories, and browsers; renders instant downloadable PNG QR codes.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• Link Health Scanner: </a:t>
            </a:r>
            <a:r>
              <a:rPr sz="1200">
                <a:solidFill>
                  <a:srgbClr val="1E293B"/>
                </a:solidFill>
                <a:latin typeface="Calibri"/>
              </a:rPr>
              <a:t>Audits all registered URLs in real-time, categorizing links into Healthy, Paused, and Expired states.</a:t>
            </a:r>
          </a:p>
        </p:txBody>
      </p:sp>
      <p:sp>
        <p:nvSpPr>
          <p:cNvPr id="9" name="Footer Placeholder 9">
            <a:extLst>
              <a:ext uri="{FF2B5EF4-FFF2-40B4-BE49-F238E27FC236}">
                <a16:creationId xmlns:a16="http://schemas.microsoft.com/office/drawing/2014/main" id="{C62DFCAD-E537-8010-E6AD-89312F122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>
            <a:extLst>
              <a:ext uri="{FF2B5EF4-FFF2-40B4-BE49-F238E27FC236}">
                <a16:creationId xmlns:a16="http://schemas.microsoft.com/office/drawing/2014/main" id="{945A1E29-A8E9-D9F4-6125-6156DE9652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777240"/>
            <a:ext cx="11739563" cy="5486400"/>
          </a:xfrm>
        </p:spPr>
        <p:txBody>
          <a:bodyPr wrap="square"/>
          <a:lstStyle/>
          <a:p>
            <a:pPr algn="just">
              <a:spcAft>
                <a:spcPts val="400"/>
              </a:spcAft>
              <a:defRPr sz="1450" b="1">
                <a:solidFill>
                  <a:srgbClr val="2563EB"/>
                </a:solidFill>
                <a:latin typeface="Arial"/>
              </a:defRPr>
            </a:pPr>
            <a:r>
              <a:t>1. URL Document Schema (MongoDB / JSON Dual Storage)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  <a:latin typeface="Consolas"/>
              </a:defRPr>
            </a:pPr>
            <a:r>
              <a:t>{</a:t>
            </a:r>
            <a:br/>
            <a:r>
              <a:t>  "shortCode": "summer-sale",              // Unique 6-char hash or custom vanity alias</a:t>
            </a:r>
            <a:br/>
            <a:r>
              <a:t>  "originalUrl": "https://example.com/deal",// Validated destination URL</a:t>
            </a:r>
            <a:br/>
            <a:r>
              <a:t>  "passcodeHash": "$2b$10$e8Z...",          // Optional Bcrypt-hashed password</a:t>
            </a:r>
            <a:br/>
            <a:r>
              <a:t>  "expiresAt": "2026-12-31T23:59:59Z",     // Optional expiration date</a:t>
            </a:r>
            <a:br/>
            <a:r>
              <a:t>  "maxClicks": 500, "clicks": 42,           // Click count cap and total visits</a:t>
            </a:r>
            <a:br/>
            <a:r>
              <a:t>  "analytics": [{ "timestamp": "...", "ip": "...", "referrer": "twitter.com", "device": "mobile" }]</a:t>
            </a:r>
            <a:br/>
            <a:r>
              <a:t>}</a:t>
            </a:r>
          </a:p>
          <a:p>
            <a:pPr>
              <a:spcAft>
                <a:spcPts val="400"/>
              </a:spcAft>
              <a:defRPr sz="1450" b="1">
                <a:solidFill>
                  <a:srgbClr val="2563EB"/>
                </a:solidFill>
                <a:latin typeface="Arial"/>
              </a:defRPr>
            </a:pPr>
            <a:r>
              <a:t>2. RESTful API Endpoints Specification (v1)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• POST /api/v1/shorten : </a:t>
            </a:r>
            <a:r>
              <a:rPr sz="1150">
                <a:solidFill>
                  <a:srgbClr val="1E293B"/>
                </a:solidFill>
                <a:latin typeface="Calibri"/>
              </a:rPr>
              <a:t>Creates a shortened link with optional slug, passcode, expiration, UTMs.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• POST /api/v1/bulk-shorten : </a:t>
            </a:r>
            <a:r>
              <a:rPr sz="1150">
                <a:solidFill>
                  <a:srgbClr val="1E293B"/>
                </a:solidFill>
                <a:latin typeface="Calibri"/>
              </a:rPr>
              <a:t>Processes batch arrays of up to 50 URLs in a single transaction.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• GET /api/v1/links : </a:t>
            </a:r>
            <a:r>
              <a:rPr sz="1150">
                <a:solidFill>
                  <a:srgbClr val="1E293B"/>
                </a:solidFill>
                <a:latin typeface="Calibri"/>
              </a:rPr>
              <a:t>Fetches paginated links with search, sort, and status filtering.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• GET /api/v1/links/:code/analytics : </a:t>
            </a:r>
            <a:r>
              <a:rPr sz="1150">
                <a:solidFill>
                  <a:srgbClr val="1E293B"/>
                </a:solidFill>
                <a:latin typeface="Calibri"/>
              </a:rPr>
              <a:t>Returns telemetry timeline, referrer distribution, and device metrics.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• GET /:shortCode : </a:t>
            </a:r>
            <a:r>
              <a:rPr sz="1150">
                <a:solidFill>
                  <a:srgbClr val="1E293B"/>
                </a:solidFill>
                <a:latin typeface="Calibri"/>
              </a:rPr>
              <a:t>High-performance HTTP 302 redirection or passcode verification challenge.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DCCB91-FB75-7B88-D151-729E85989129}"/>
              </a:ext>
            </a:extLst>
          </p:cNvPr>
          <p:cNvSpPr txBox="1">
            <a:spLocks/>
          </p:cNvSpPr>
          <p:nvPr/>
        </p:nvSpPr>
        <p:spPr>
          <a:xfrm>
            <a:off x="731838" y="158750"/>
            <a:ext cx="10606087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Database / </a:t>
            </a:r>
            <a:r>
              <a:rPr lang="en-US" sz="3200" dirty="0" err="1">
                <a:solidFill>
                  <a:srgbClr val="FF0000"/>
                </a:solidFill>
              </a:rPr>
              <a:t>api</a:t>
            </a:r>
            <a:r>
              <a:rPr lang="en-US" sz="3200" dirty="0">
                <a:solidFill>
                  <a:srgbClr val="FF0000"/>
                </a:solidFill>
              </a:rPr>
              <a:t> design</a:t>
            </a:r>
            <a:endParaRPr lang="en-US" sz="3200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F1A36DE2-2B0A-DF04-8B7B-1445A23C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DA16B1-FAB4-3C00-5029-DF316C6252E2}"/>
              </a:ext>
            </a:extLst>
          </p:cNvPr>
          <p:cNvSpPr txBox="1">
            <a:spLocks/>
          </p:cNvSpPr>
          <p:nvPr/>
        </p:nvSpPr>
        <p:spPr>
          <a:xfrm>
            <a:off x="731838" y="158750"/>
            <a:ext cx="10606087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Testing &amp; results</a:t>
            </a:r>
            <a:endParaRPr lang="en-US" sz="3200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A5B01506-B8AC-7D3C-6DD5-FF7385DC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86868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3474720"/>
                <a:gridCol w="2926080"/>
                <a:gridCol w="10972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/ Endpoint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Description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POST /api/v1/shorten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Create short URL with standard valid originalUrl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HTTP 201 Created with shortUrl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POST /api/v1/shorten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Request custom slug already taken by another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HTTP 400 Bad Request (Duplicate)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POST /api/v1/bulk-shorten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Process batch array of 5 valid URLs in single 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HTTP 200 OK with 5 success items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GET /:shortCode (Protected)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Access passcode-restricted link without parameter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HTTP 200 Password Challenge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GET /:shortCode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Access standard active short 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HTTP 302 Redirect to destination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3520440"/>
            <a:ext cx="10698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Automated Jest Test Suite &amp; Latency Verification Results:</a:t>
            </a:r>
          </a:p>
          <a:p>
            <a:pPr>
              <a:defRPr sz="1000">
                <a:solidFill>
                  <a:srgbClr val="0F172A"/>
                </a:solidFill>
                <a:latin typeface="Consolas"/>
              </a:defRPr>
            </a:pPr>
            <a:r>
              <a:t>PASS tests/shortener.test.js</a:t>
            </a:r>
            <a:br/>
            <a:r>
              <a:t>  URL Shortener API Tests</a:t>
            </a:r>
            <a:br/>
            <a:r>
              <a:t>    ✓ POST /api/v1/shorten creates a short URL (87 ms)</a:t>
            </a:r>
            <a:br/>
            <a:r>
              <a:t>    ✓ POST /api/v1/shorten handles custom slug and duplicate prevention (614 ms)</a:t>
            </a:r>
            <a:br/>
            <a:r>
              <a:t>    ✓ GET /api/v1/links returns list of links (13 ms)</a:t>
            </a:r>
            <a:br/>
            <a:r>
              <a:t>    ✓ POST /api/v1/bulk-shorten processes multiple URLs (13 ms)</a:t>
            </a:r>
            <a:br/>
            <a:r>
              <a:t>    ✓ GET /:shortCode redirects to original URL (19 ms)</a:t>
            </a:r>
            <a:br/>
            <a:br/>
            <a:r>
              <a:t>Test Suites: 1 passed, 1 total  |  Tests: 5 passed, 5 total  |  Time: 2.158 s  |  Redirection Latency: &lt; 20 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A763C6A-D15C-70F8-5A41-E2596CB779E5}"/>
              </a:ext>
            </a:extLst>
          </p:cNvPr>
          <p:cNvSpPr txBox="1">
            <a:spLocks/>
          </p:cNvSpPr>
          <p:nvPr/>
        </p:nvSpPr>
        <p:spPr>
          <a:xfrm>
            <a:off x="731838" y="158750"/>
            <a:ext cx="10606087" cy="563563"/>
          </a:xfrm>
          <a:prstGeom prst="rect">
            <a:avLst/>
          </a:prstGeom>
        </p:spPr>
        <p:txBody>
          <a:bodyPr lIns="0" tIns="0" rIns="0" bIns="0"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 cap="all" spc="7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Conclusion and future work</a:t>
            </a:r>
            <a:endParaRPr lang="en-US" sz="3200" dirty="0">
              <a:solidFill>
                <a:srgbClr val="FF0000"/>
              </a:solidFill>
              <a:ea typeface="Verdana"/>
            </a:endParaRPr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1845C329-5DB3-5578-22F6-A8726D5E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64475" y="6400800"/>
            <a:ext cx="4114800" cy="457200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solidFill>
                  <a:srgbClr val="FFFF00"/>
                </a:solidFill>
              </a:rPr>
              <a:t>FSD Case Study - Department of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1. Conclusion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LinkFlow PRO v2.1 successfully satisfies all technical and functional requirements defined in the Full Stack Development Case Study template.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The project solves the fundamental challenges of link clutter, security vulnerabilities, and commercial paywalls by delivering custom slugs, passcode gates, QR codes, and real-time Chart.js analytics.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The Zero-Setup Dual-Engine Storage Architecture eliminates setup friction, guaranteeing 100% operational uptime across cloud and local environments.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Fully verified through automated Jest and Supertest test suites with 100% pass rates and released under the MIT License for Mitta Aryan Rupesh.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2563EB"/>
                </a:solidFill>
                <a:latin typeface="Arial"/>
              </a:defRPr>
            </a:pPr>
            <a:r>
              <a:t>2. Future Work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Custom Domain CNAME Routing: </a:t>
            </a:r>
            <a:r>
              <a:rPr sz="1250">
                <a:solidFill>
                  <a:srgbClr val="1E293B"/>
                </a:solidFill>
                <a:latin typeface="Calibri"/>
              </a:rPr>
              <a:t>Allow corporate organizations to connect their own branded domain names (e.g. go.mycompany.com).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Enterprise User Authentication &amp; RBAC: </a:t>
            </a:r>
            <a:r>
              <a:rPr sz="1250">
                <a:solidFill>
                  <a:srgbClr val="1E293B"/>
                </a:solidFill>
                <a:latin typeface="Calibri"/>
              </a:rPr>
              <a:t>Implement JWT multi-tenant user accounts with role-based access permissions and team collaboration.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AI-Powered Threat &amp; Phishing Detection: </a:t>
            </a:r>
            <a:r>
              <a:rPr sz="1250">
                <a:solidFill>
                  <a:srgbClr val="1E293B"/>
                </a:solidFill>
                <a:latin typeface="Calibri"/>
              </a:rPr>
              <a:t>Deploy real-time machine learning models to inspect destination URLs and block malicious redirects.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• Native Mobile Applications: </a:t>
            </a:r>
            <a:r>
              <a:rPr sz="1250">
                <a:solidFill>
                  <a:srgbClr val="1E293B"/>
                </a:solidFill>
                <a:latin typeface="Calibri"/>
              </a:rPr>
              <a:t>Build cross-platform mobile apps for iOS and Android using React Native for on-the-go link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 rise</Template>
  <TotalTime>376</TotalTime>
  <Words>224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Avenir Next LT Pro Light</vt:lpstr>
      <vt:lpstr>Arial</vt:lpstr>
      <vt:lpstr>Avenir Next LT Pro</vt:lpstr>
      <vt:lpstr>Calibri</vt:lpstr>
      <vt:lpstr>Verdana</vt:lpstr>
      <vt:lpstr>Times New Roman</vt:lpstr>
      <vt:lpstr>GradientRiseVTI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Radhika Omkar</dc:creator>
  <cp:lastModifiedBy>mitta aryanrupesh</cp:lastModifiedBy>
  <cp:revision>36</cp:revision>
  <dcterms:created xsi:type="dcterms:W3CDTF">2026-01-26T15:14:48Z</dcterms:created>
  <dcterms:modified xsi:type="dcterms:W3CDTF">2026-09-11T20:17:55Z</dcterms:modified>
</cp:coreProperties>
</file>